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6.xml"/>
  <Override ContentType="application/vnd.openxmlformats-officedocument.presentationml.comments+xml" PartName="/ppt/comments/comment3.xml"/>
  <Override ContentType="application/vnd.openxmlformats-officedocument.presentationml.comments+xml" PartName="/ppt/comments/comment13.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2.xml"/>
  <Override ContentType="application/vnd.openxmlformats-officedocument.presentationml.comments+xml" PartName="/ppt/comments/comment14.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Wilson Inaci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0F203B-9386-4476-B197-A8B0B76AEE03}">
  <a:tblStyle styleId="{690F203B-9386-4476-B197-A8B0B76AEE0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5016C6B-9779-4FDF-AC33-023439309C1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Roboto-regular.fntdata"/><Relationship Id="rId21" Type="http://schemas.openxmlformats.org/officeDocument/2006/relationships/slide" Target="slides/slide14.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font" Target="fonts/Roboto-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05T19:35:00.481">
    <p:pos x="6000" y="0"/>
    <p:text>Biodiversity in National Parks is a project done as part of Codecademy's Data Science Pathway. On it I analyzed some data pertaining to Endangered species in U.S.A. National parks.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05T19:36:28.671">
    <p:pos x="6000" y="0"/>
    <p:text>The data was downloaded from the Biodiversity Portfolio Project at Codecademy, and consists of two files: Species Info, that contains information about the species and the endangerment status, and Observations, which contains information about which species were seen at which park and how many times.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1-05T19:38:39.323">
    <p:pos x="6000" y="0"/>
    <p:text>Species info is entirely made of categorical data, where 'Category' is the class the species belongs to, 'scientific name' is the taxonomic name of that species, and  'common name' is the name or names that species is commonly known as.
'Conservation status' is the only ordinal categorical variable in the dataset and reports a species conservation status.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11-05T19:40:01.607">
    <p:pos x="6000" y="0"/>
    <p:text>This file had some species being represented twice, so some cleaning had to be done, and there were empty values for the species that were of least concern, so I filled those empty cells with this information.</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11-05T19:43:42.043">
    <p:pos x="6000" y="0"/>
    <p:text>'Observations' had 5541 unique scientific names, meaning all species in 'species_info' were observed at some park. The 'scientific name' column serves as a key to link to 'species_info', and 'Park Name' stores the location of where the observation was made. 'Observations' is the only numerical variable, storing a count of the number of observations made.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11-05T19:43:59.677">
    <p:pos x="6000" y="0"/>
    <p:text>Some parks had more than one line for a species with different counts, but I left it as I think it was likely different observations in different time periods.</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11-05T19:45:30.182">
    <p:pos x="6000" y="0"/>
    <p:text>We can see that the majority of species reported were Vascular Plants, and the last four categories combined make up 8.3% of the total, almost as much as the second and third categories, Birds and Non-vascular plants, respectively.</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11-05T19:48:17.456">
    <p:pos x="6000" y="0"/>
    <p:text>Some categories have no threatened or endangered species, as Plants and Reptiles, but Fish, even though has a very big number of 'Least Concern' Species, also has a high number of 'Endangered' and 'Threatened' species. Mammals is the overall category with most Endangered species, but Fish has the potential to create more endangered species.</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5-11-05T19:49:09.051">
    <p:pos x="6000" y="0"/>
    <p:text>Here we can see all Parks have seen the same amount of Conservation Status species, meaning all Parks reported seeing at least one of each of the species present in our dataset.</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5-11-05T19:51:35.857">
    <p:pos x="6000" y="0"/>
    <p:text>From the species listed as 'Endangered', Canis lupus is the one that is most commonly seen across all parks, and Grus americana is the one seen the least, meaning it might be the one that is at present the most endangered one. Also, of note is the fact that all observations across all parks follow a similar pattern across all species, with most observations in the Smoky Mountains, then Yellowstone, Bryce and with the least observations, Yosemite National Park.</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5-11-05T19:53:03.392">
    <p:pos x="6000" y="0"/>
    <p:text>This is a list of the least seen species from each category across all parks, and we can see that all species were seen around 140 to 150 times each in the time period that the data collection took place.</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5-11-05T19:55:55.515">
    <p:pos x="6000" y="0"/>
    <p:text>For our Statistic inference to try to determine the answer to the question "Is the difference between a species category and their conservation status significant?" I used a Chi-square test, as both variables are categorical and seemingly independent. I used the Null hypothesis: "There is no relationship between the two variables" for this test.</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5-11-05T19:59:22.389">
    <p:pos x="6000" y="0"/>
    <p:text>The P-value obtained from the test was way bellow 0.01, making it highly significant, meaning that it is highly improbable that these values are by pure chance, so we can reject the Null hypothesis and say there is strong evidence that the variables are correlated.</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5-11-05T19:59:59.956">
    <p:pos x="6000" y="0"/>
    <p:text>These are some conclusions derived from this project and some thoughts for the future. Thank you</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087c3bfb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087c3bfb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087c3bfb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087c3bfb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087c3bfbd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087c3bfbd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087c3bfb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087c3bfb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087c3bfbd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087c3bfbd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087c3bfbd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087c3bfbd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087c3bfbd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087c3bfbd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087c3bfbd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087c3bfbd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087c3bfbd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087c3bfbd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087c3bfbd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087c3bfbd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87c3bfbd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87c3bfbd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087c3bfbd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087c3bfbd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087c3bfbd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087c3bfbd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hyperlink" Target="http://codecademy.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comments" Target="../comments/commen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omments" Target="../comments/comment8.xml"/><Relationship Id="rId4" Type="http://schemas.openxmlformats.org/officeDocument/2006/relationships/image" Target="../media/image4.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omments" Target="../comments/comment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omments" Target="../comments/comment1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comments" Target="../comments/commen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comments" Target="../comments/commen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omments" Target="../comments/commen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omments" Target="../comments/comment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3C78D8"/>
                </a:solidFill>
              </a:rPr>
              <a:t>Biodiversity in National Parks</a:t>
            </a:r>
            <a:endParaRPr>
              <a:solidFill>
                <a:srgbClr val="3C78D8"/>
              </a:solidFill>
            </a:endParaRPr>
          </a:p>
        </p:txBody>
      </p:sp>
      <p:sp>
        <p:nvSpPr>
          <p:cNvPr id="55" name="Google Shape;55;p13"/>
          <p:cNvSpPr txBox="1"/>
          <p:nvPr>
            <p:ph idx="1" type="subTitle"/>
          </p:nvPr>
        </p:nvSpPr>
        <p:spPr>
          <a:xfrm>
            <a:off x="311700" y="2834125"/>
            <a:ext cx="8520600" cy="7926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GB">
                <a:solidFill>
                  <a:srgbClr val="6D9EEB"/>
                </a:solidFill>
              </a:rPr>
              <a:t>Codecademy Portfolio Project for Data Science Pathway</a:t>
            </a:r>
            <a:endParaRPr>
              <a:solidFill>
                <a:srgbClr val="6D9EE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Data</a:t>
            </a:r>
            <a:endParaRPr>
              <a:solidFill>
                <a:srgbClr val="3C78D8"/>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500">
                <a:solidFill>
                  <a:srgbClr val="6D9EEB"/>
                </a:solidFill>
              </a:rPr>
              <a:t>Data was downloaded from </a:t>
            </a:r>
            <a:r>
              <a:rPr lang="en-GB" sz="1500" u="sng">
                <a:solidFill>
                  <a:srgbClr val="6D9EEB"/>
                </a:solidFill>
                <a:hlinkClick r:id="rId4">
                  <a:extLst>
                    <a:ext uri="{A12FA001-AC4F-418D-AE19-62706E023703}">
                      <ahyp:hlinkClr val="tx"/>
                    </a:ext>
                  </a:extLst>
                </a:hlinkClick>
              </a:rPr>
              <a:t>codecademy.com</a:t>
            </a:r>
            <a:endParaRPr sz="1500">
              <a:solidFill>
                <a:srgbClr val="6D9EEB"/>
              </a:solidFill>
            </a:endParaRPr>
          </a:p>
          <a:p>
            <a:pPr indent="0" lvl="0" marL="0" rtl="0" algn="l">
              <a:spcBef>
                <a:spcPts val="1200"/>
              </a:spcBef>
              <a:spcAft>
                <a:spcPts val="0"/>
              </a:spcAft>
              <a:buNone/>
            </a:pPr>
            <a:r>
              <a:t/>
            </a:r>
            <a:endParaRPr sz="1500">
              <a:solidFill>
                <a:srgbClr val="6D9EEB"/>
              </a:solidFill>
            </a:endParaRPr>
          </a:p>
          <a:p>
            <a:pPr indent="0" lvl="0" marL="0" rtl="0" algn="l">
              <a:spcBef>
                <a:spcPts val="1200"/>
              </a:spcBef>
              <a:spcAft>
                <a:spcPts val="0"/>
              </a:spcAft>
              <a:buNone/>
            </a:pPr>
            <a:r>
              <a:rPr lang="en-GB" sz="1500">
                <a:solidFill>
                  <a:srgbClr val="6D9EEB"/>
                </a:solidFill>
              </a:rPr>
              <a:t>Consists of two files:</a:t>
            </a:r>
            <a:endParaRPr sz="1500">
              <a:solidFill>
                <a:srgbClr val="6D9EEB"/>
              </a:solidFill>
            </a:endParaRPr>
          </a:p>
          <a:p>
            <a:pPr indent="-323850" lvl="0" marL="457200" rtl="0" algn="l">
              <a:spcBef>
                <a:spcPts val="1200"/>
              </a:spcBef>
              <a:spcAft>
                <a:spcPts val="0"/>
              </a:spcAft>
              <a:buClr>
                <a:srgbClr val="6D9EEB"/>
              </a:buClr>
              <a:buSzPts val="1500"/>
              <a:buChar char="●"/>
            </a:pPr>
            <a:r>
              <a:rPr lang="en-GB" sz="1500">
                <a:solidFill>
                  <a:srgbClr val="6D9EEB"/>
                </a:solidFill>
              </a:rPr>
              <a:t>species_info.csv</a:t>
            </a:r>
            <a:endParaRPr sz="1500">
              <a:solidFill>
                <a:srgbClr val="6D9EEB"/>
              </a:solidFill>
            </a:endParaRPr>
          </a:p>
          <a:p>
            <a:pPr indent="-323850" lvl="0" marL="457200" rtl="0" algn="l">
              <a:spcBef>
                <a:spcPts val="0"/>
              </a:spcBef>
              <a:spcAft>
                <a:spcPts val="0"/>
              </a:spcAft>
              <a:buClr>
                <a:srgbClr val="6D9EEB"/>
              </a:buClr>
              <a:buSzPts val="1500"/>
              <a:buChar char="●"/>
            </a:pPr>
            <a:r>
              <a:rPr lang="en-GB" sz="1500">
                <a:solidFill>
                  <a:srgbClr val="6D9EEB"/>
                </a:solidFill>
              </a:rPr>
              <a:t>observations.csv</a:t>
            </a:r>
            <a:endParaRPr sz="1500">
              <a:solidFill>
                <a:srgbClr val="6D9EE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GB">
                <a:solidFill>
                  <a:srgbClr val="3C78D8"/>
                </a:solidFill>
              </a:rPr>
              <a:t>Data</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sz="1500">
                <a:solidFill>
                  <a:srgbClr val="6D9EEB"/>
                </a:solidFill>
              </a:rPr>
              <a:t>Species_info.csv</a:t>
            </a:r>
            <a:endParaRPr sz="1500">
              <a:solidFill>
                <a:srgbClr val="6D9EEB"/>
              </a:solidFill>
            </a:endParaRPr>
          </a:p>
          <a:p>
            <a:pPr indent="0" lvl="0" marL="0" rtl="0" algn="l">
              <a:spcBef>
                <a:spcPts val="1200"/>
              </a:spcBef>
              <a:spcAft>
                <a:spcPts val="0"/>
              </a:spcAft>
              <a:buNone/>
            </a:pPr>
            <a:r>
              <a:t/>
            </a:r>
            <a:endParaRPr sz="1500">
              <a:solidFill>
                <a:srgbClr val="6D9EEB"/>
              </a:solidFill>
            </a:endParaRPr>
          </a:p>
          <a:p>
            <a:pPr indent="-323850" lvl="0" marL="457200" rtl="0" algn="l">
              <a:spcBef>
                <a:spcPts val="1200"/>
              </a:spcBef>
              <a:spcAft>
                <a:spcPts val="0"/>
              </a:spcAft>
              <a:buClr>
                <a:srgbClr val="6D9EEB"/>
              </a:buClr>
              <a:buSzPts val="1500"/>
              <a:buChar char="●"/>
            </a:pPr>
            <a:r>
              <a:rPr lang="en-GB" sz="1500">
                <a:solidFill>
                  <a:srgbClr val="6D9EEB"/>
                </a:solidFill>
              </a:rPr>
              <a:t>Rows: 5824 rows of data, of which 5541 are unique</a:t>
            </a:r>
            <a:endParaRPr sz="1500">
              <a:solidFill>
                <a:srgbClr val="6D9EEB"/>
              </a:solidFill>
            </a:endParaRPr>
          </a:p>
          <a:p>
            <a:pPr indent="-323850" lvl="0" marL="457200" rtl="0" algn="l">
              <a:spcBef>
                <a:spcPts val="0"/>
              </a:spcBef>
              <a:spcAft>
                <a:spcPts val="0"/>
              </a:spcAft>
              <a:buClr>
                <a:srgbClr val="6D9EEB"/>
              </a:buClr>
              <a:buSzPts val="1500"/>
              <a:buChar char="●"/>
            </a:pPr>
            <a:r>
              <a:rPr lang="en-GB" sz="1500">
                <a:solidFill>
                  <a:srgbClr val="6D9EEB"/>
                </a:solidFill>
              </a:rPr>
              <a:t>Columns: </a:t>
            </a:r>
            <a:endParaRPr sz="1500">
              <a:solidFill>
                <a:srgbClr val="6D9EEB"/>
              </a:solidFill>
            </a:endParaRPr>
          </a:p>
          <a:p>
            <a:pPr indent="-323850" lvl="1" marL="914400" rtl="0" algn="l">
              <a:spcBef>
                <a:spcPts val="0"/>
              </a:spcBef>
              <a:spcAft>
                <a:spcPts val="0"/>
              </a:spcAft>
              <a:buClr>
                <a:srgbClr val="6D9EEB"/>
              </a:buClr>
              <a:buSzPts val="1500"/>
              <a:buChar char="○"/>
            </a:pPr>
            <a:r>
              <a:rPr lang="en-GB" sz="1500">
                <a:solidFill>
                  <a:srgbClr val="6D9EEB"/>
                </a:solidFill>
              </a:rPr>
              <a:t>`category` - Class the species belongs to, seven different categories:</a:t>
            </a:r>
            <a:endParaRPr sz="1500">
              <a:solidFill>
                <a:srgbClr val="6D9EEB"/>
              </a:solidFill>
            </a:endParaRPr>
          </a:p>
          <a:p>
            <a:pPr indent="-311150" lvl="2" marL="1371600" rtl="0" algn="l">
              <a:spcBef>
                <a:spcPts val="0"/>
              </a:spcBef>
              <a:spcAft>
                <a:spcPts val="0"/>
              </a:spcAft>
              <a:buClr>
                <a:srgbClr val="6D9EEB"/>
              </a:buClr>
              <a:buSzPts val="1300"/>
              <a:buChar char="■"/>
            </a:pPr>
            <a:r>
              <a:rPr lang="en-GB" sz="1300">
                <a:solidFill>
                  <a:srgbClr val="6D9EEB"/>
                </a:solidFill>
              </a:rPr>
              <a:t>`Mammal`, `Bird`, `Reptile`, `Amphibian`, `Fish`, `Vascular </a:t>
            </a:r>
            <a:r>
              <a:rPr lang="en-GB" sz="1300">
                <a:solidFill>
                  <a:srgbClr val="6D9EEB"/>
                </a:solidFill>
              </a:rPr>
              <a:t>P</a:t>
            </a:r>
            <a:r>
              <a:rPr lang="en-GB" sz="1300">
                <a:solidFill>
                  <a:srgbClr val="6D9EEB"/>
                </a:solidFill>
              </a:rPr>
              <a:t>lant`, `Nonvascular Plant`</a:t>
            </a:r>
            <a:endParaRPr sz="1300">
              <a:solidFill>
                <a:srgbClr val="6D9EEB"/>
              </a:solidFill>
            </a:endParaRPr>
          </a:p>
          <a:p>
            <a:pPr indent="-311150" lvl="1" marL="914400" rtl="0" algn="l">
              <a:spcBef>
                <a:spcPts val="0"/>
              </a:spcBef>
              <a:spcAft>
                <a:spcPts val="0"/>
              </a:spcAft>
              <a:buClr>
                <a:srgbClr val="6D9EEB"/>
              </a:buClr>
              <a:buSzPts val="1300"/>
              <a:buChar char="○"/>
            </a:pPr>
            <a:r>
              <a:rPr lang="en-GB" sz="1500">
                <a:solidFill>
                  <a:srgbClr val="6D9EEB"/>
                </a:solidFill>
              </a:rPr>
              <a:t>`scientific_name` - The species’ scientific name</a:t>
            </a:r>
            <a:endParaRPr sz="1500">
              <a:solidFill>
                <a:srgbClr val="6D9EEB"/>
              </a:solidFill>
            </a:endParaRPr>
          </a:p>
          <a:p>
            <a:pPr indent="-323850" lvl="1" marL="914400" rtl="0" algn="l">
              <a:spcBef>
                <a:spcPts val="0"/>
              </a:spcBef>
              <a:spcAft>
                <a:spcPts val="0"/>
              </a:spcAft>
              <a:buClr>
                <a:srgbClr val="6D9EEB"/>
              </a:buClr>
              <a:buSzPts val="1500"/>
              <a:buChar char="○"/>
            </a:pPr>
            <a:r>
              <a:rPr lang="en-GB" sz="1500">
                <a:solidFill>
                  <a:srgbClr val="6D9EEB"/>
                </a:solidFill>
              </a:rPr>
              <a:t>`common_names` - Names the species is commonly known as</a:t>
            </a:r>
            <a:endParaRPr sz="1500">
              <a:solidFill>
                <a:srgbClr val="6D9EEB"/>
              </a:solidFill>
            </a:endParaRPr>
          </a:p>
          <a:p>
            <a:pPr indent="-323850" lvl="1" marL="914400" rtl="0" algn="l">
              <a:spcBef>
                <a:spcPts val="0"/>
              </a:spcBef>
              <a:spcAft>
                <a:spcPts val="0"/>
              </a:spcAft>
              <a:buClr>
                <a:srgbClr val="6D9EEB"/>
              </a:buClr>
              <a:buSzPts val="1500"/>
              <a:buChar char="○"/>
            </a:pPr>
            <a:r>
              <a:rPr lang="en-GB" sz="1500">
                <a:solidFill>
                  <a:srgbClr val="6D9EEB"/>
                </a:solidFill>
              </a:rPr>
              <a:t>`conservation_status` - Conservation status of the species:</a:t>
            </a:r>
            <a:endParaRPr sz="1500">
              <a:solidFill>
                <a:srgbClr val="6D9EEB"/>
              </a:solidFill>
            </a:endParaRPr>
          </a:p>
          <a:p>
            <a:pPr indent="-311150" lvl="2" marL="1371600" rtl="0" algn="l">
              <a:spcBef>
                <a:spcPts val="0"/>
              </a:spcBef>
              <a:spcAft>
                <a:spcPts val="0"/>
              </a:spcAft>
              <a:buClr>
                <a:srgbClr val="6D9EEB"/>
              </a:buClr>
              <a:buSzPts val="1300"/>
              <a:buChar char="■"/>
            </a:pPr>
            <a:r>
              <a:rPr lang="en-GB" sz="1300">
                <a:solidFill>
                  <a:srgbClr val="6D9EEB"/>
                </a:solidFill>
              </a:rPr>
              <a:t>`Endangered`, `Threatened`, `Species </a:t>
            </a:r>
            <a:r>
              <a:rPr lang="en-GB" sz="1300">
                <a:solidFill>
                  <a:srgbClr val="6D9EEB"/>
                </a:solidFill>
              </a:rPr>
              <a:t>o</a:t>
            </a:r>
            <a:r>
              <a:rPr lang="en-GB" sz="1300">
                <a:solidFill>
                  <a:srgbClr val="6D9EEB"/>
                </a:solidFill>
              </a:rPr>
              <a:t>f Concern`, `In Recovery` and `NaN`</a:t>
            </a:r>
            <a:endParaRPr sz="1300">
              <a:solidFill>
                <a:srgbClr val="6D9EEB"/>
              </a:solidFill>
            </a:endParaRPr>
          </a:p>
          <a:p>
            <a:pPr indent="0" lvl="0" marL="0" rtl="0" algn="l">
              <a:spcBef>
                <a:spcPts val="1200"/>
              </a:spcBef>
              <a:spcAft>
                <a:spcPts val="1200"/>
              </a:spcAft>
              <a:buNone/>
            </a:pPr>
            <a:r>
              <a:t/>
            </a:r>
            <a:endParaRPr sz="1500">
              <a:solidFill>
                <a:srgbClr val="6D9EE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Data</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sz="1500">
                <a:solidFill>
                  <a:srgbClr val="6D9EEB"/>
                </a:solidFill>
              </a:rPr>
              <a:t>Species_info.csv</a:t>
            </a:r>
            <a:endParaRPr sz="1500">
              <a:solidFill>
                <a:srgbClr val="6D9EEB"/>
              </a:solidFill>
            </a:endParaRPr>
          </a:p>
          <a:p>
            <a:pPr indent="0" lvl="0" marL="0" marR="0" rtl="0" algn="l">
              <a:lnSpc>
                <a:spcPct val="115000"/>
              </a:lnSpc>
              <a:spcBef>
                <a:spcPts val="1200"/>
              </a:spcBef>
              <a:spcAft>
                <a:spcPts val="0"/>
              </a:spcAft>
              <a:buNone/>
            </a:pPr>
            <a:r>
              <a:t/>
            </a:r>
            <a:endParaRPr sz="1500">
              <a:solidFill>
                <a:srgbClr val="6D9EEB"/>
              </a:solidFill>
            </a:endParaRPr>
          </a:p>
          <a:p>
            <a:pPr indent="-323850" lvl="0" marL="457200" marR="0" rtl="0" algn="l">
              <a:lnSpc>
                <a:spcPct val="150000"/>
              </a:lnSpc>
              <a:spcBef>
                <a:spcPts val="1200"/>
              </a:spcBef>
              <a:spcAft>
                <a:spcPts val="0"/>
              </a:spcAft>
              <a:buClr>
                <a:srgbClr val="6D9EEB"/>
              </a:buClr>
              <a:buSzPts val="1500"/>
              <a:buChar char="●"/>
            </a:pPr>
            <a:r>
              <a:rPr lang="en-GB" sz="1500">
                <a:solidFill>
                  <a:srgbClr val="6D9EEB"/>
                </a:solidFill>
              </a:rPr>
              <a:t>The file had repeated species in different rows, which needed to be cleaned.</a:t>
            </a:r>
            <a:endParaRPr sz="1500">
              <a:solidFill>
                <a:srgbClr val="6D9EEB"/>
              </a:solidFill>
            </a:endParaRPr>
          </a:p>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`conservation_status` had no value for species of least concern, so the value `Least </a:t>
            </a:r>
            <a:r>
              <a:rPr lang="en-GB" sz="1500">
                <a:solidFill>
                  <a:srgbClr val="6D9EEB"/>
                </a:solidFill>
              </a:rPr>
              <a:t>C</a:t>
            </a:r>
            <a:r>
              <a:rPr lang="en-GB" sz="1500">
                <a:solidFill>
                  <a:srgbClr val="6D9EEB"/>
                </a:solidFill>
              </a:rPr>
              <a:t>oncern` so there are no empty values in the DataFrame</a:t>
            </a:r>
            <a:endParaRPr sz="1500">
              <a:solidFill>
                <a:srgbClr val="6D9EEB"/>
              </a:solidFill>
            </a:endParaRPr>
          </a:p>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All columns are made up of nominal categorical data, except `conservation_status`, which consists of ordinal categorical data</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Data</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sz="1500">
                <a:solidFill>
                  <a:srgbClr val="6D9EEB"/>
                </a:solidFill>
              </a:rPr>
              <a:t>Observations.csv</a:t>
            </a:r>
            <a:endParaRPr sz="1500">
              <a:solidFill>
                <a:srgbClr val="6D9EEB"/>
              </a:solidFill>
            </a:endParaRPr>
          </a:p>
          <a:p>
            <a:pPr indent="0" lvl="0" marL="0" rtl="0" algn="l">
              <a:spcBef>
                <a:spcPts val="1200"/>
              </a:spcBef>
              <a:spcAft>
                <a:spcPts val="0"/>
              </a:spcAft>
              <a:buNone/>
            </a:pPr>
            <a:r>
              <a:t/>
            </a:r>
            <a:endParaRPr sz="1500">
              <a:solidFill>
                <a:srgbClr val="6D9EEB"/>
              </a:solidFill>
            </a:endParaRPr>
          </a:p>
          <a:p>
            <a:pPr indent="-323850" lvl="0" marL="457200" rtl="0" algn="l">
              <a:spcBef>
                <a:spcPts val="1200"/>
              </a:spcBef>
              <a:spcAft>
                <a:spcPts val="0"/>
              </a:spcAft>
              <a:buClr>
                <a:srgbClr val="6D9EEB"/>
              </a:buClr>
              <a:buSzPts val="1500"/>
              <a:buChar char="●"/>
            </a:pPr>
            <a:r>
              <a:rPr lang="en-GB" sz="1500">
                <a:solidFill>
                  <a:srgbClr val="6D9EEB"/>
                </a:solidFill>
              </a:rPr>
              <a:t>Rows: 23296 rows of data, of which 5541 have unique scientific names, corresponding to the unique values of ‘species_nfo.csv’</a:t>
            </a:r>
            <a:endParaRPr sz="1500">
              <a:solidFill>
                <a:srgbClr val="6D9EEB"/>
              </a:solidFill>
            </a:endParaRPr>
          </a:p>
          <a:p>
            <a:pPr indent="-323850" lvl="0" marL="457200" rtl="0" algn="l">
              <a:spcBef>
                <a:spcPts val="0"/>
              </a:spcBef>
              <a:spcAft>
                <a:spcPts val="0"/>
              </a:spcAft>
              <a:buClr>
                <a:srgbClr val="6D9EEB"/>
              </a:buClr>
              <a:buSzPts val="1500"/>
              <a:buChar char="●"/>
            </a:pPr>
            <a:r>
              <a:rPr lang="en-GB" sz="1500">
                <a:solidFill>
                  <a:srgbClr val="6D9EEB"/>
                </a:solidFill>
              </a:rPr>
              <a:t>Columns:</a:t>
            </a:r>
            <a:endParaRPr sz="1500">
              <a:solidFill>
                <a:srgbClr val="6D9EEB"/>
              </a:solidFill>
            </a:endParaRPr>
          </a:p>
          <a:p>
            <a:pPr indent="-317500" lvl="1" marL="914400" rtl="0" algn="l">
              <a:spcBef>
                <a:spcPts val="0"/>
              </a:spcBef>
              <a:spcAft>
                <a:spcPts val="0"/>
              </a:spcAft>
              <a:buClr>
                <a:srgbClr val="6D9EEB"/>
              </a:buClr>
              <a:buSzPts val="1400"/>
              <a:buChar char="○"/>
            </a:pPr>
            <a:r>
              <a:rPr lang="en-GB" sz="1500">
                <a:solidFill>
                  <a:srgbClr val="6D9EEB"/>
                </a:solidFill>
              </a:rPr>
              <a:t>`scientific_name` - Unique identifier with the species’ scientific name</a:t>
            </a:r>
            <a:endParaRPr sz="1500">
              <a:solidFill>
                <a:srgbClr val="6D9EEB"/>
              </a:solidFill>
            </a:endParaRPr>
          </a:p>
          <a:p>
            <a:pPr indent="-317500" lvl="1" marL="914400" rtl="0" algn="l">
              <a:spcBef>
                <a:spcPts val="0"/>
              </a:spcBef>
              <a:spcAft>
                <a:spcPts val="0"/>
              </a:spcAft>
              <a:buClr>
                <a:srgbClr val="6D9EEB"/>
              </a:buClr>
              <a:buSzPts val="1400"/>
              <a:buChar char="○"/>
            </a:pPr>
            <a:r>
              <a:rPr lang="en-GB" sz="1500">
                <a:solidFill>
                  <a:srgbClr val="6D9EEB"/>
                </a:solidFill>
              </a:rPr>
              <a:t>`park_name` - Name of the park where the observations were made:</a:t>
            </a:r>
            <a:endParaRPr sz="1500">
              <a:solidFill>
                <a:srgbClr val="6D9EEB"/>
              </a:solidFill>
            </a:endParaRPr>
          </a:p>
          <a:p>
            <a:pPr indent="-317500" lvl="2" marL="1371600" rtl="0" algn="l">
              <a:spcBef>
                <a:spcPts val="0"/>
              </a:spcBef>
              <a:spcAft>
                <a:spcPts val="0"/>
              </a:spcAft>
              <a:buClr>
                <a:srgbClr val="6D9EEB"/>
              </a:buClr>
              <a:buSzPts val="1400"/>
              <a:buChar char="■"/>
            </a:pPr>
            <a:r>
              <a:rPr lang="en-GB" sz="1300">
                <a:solidFill>
                  <a:srgbClr val="6D9EEB"/>
                </a:solidFill>
              </a:rPr>
              <a:t>`Great </a:t>
            </a:r>
            <a:r>
              <a:rPr lang="en-GB" sz="1300">
                <a:solidFill>
                  <a:srgbClr val="6D9EEB"/>
                </a:solidFill>
              </a:rPr>
              <a:t>S</a:t>
            </a:r>
            <a:r>
              <a:rPr lang="en-GB" sz="1300">
                <a:solidFill>
                  <a:srgbClr val="6D9EEB"/>
                </a:solidFill>
              </a:rPr>
              <a:t>moky Mountains National Park`, `Yosemite National Park`, `Bryce National Park` and `Yellowstone National Park`</a:t>
            </a:r>
            <a:endParaRPr sz="1300">
              <a:solidFill>
                <a:srgbClr val="6D9EEB"/>
              </a:solidFill>
            </a:endParaRPr>
          </a:p>
          <a:p>
            <a:pPr indent="-317500" lvl="1" marL="914400" rtl="0" algn="l">
              <a:spcBef>
                <a:spcPts val="0"/>
              </a:spcBef>
              <a:spcAft>
                <a:spcPts val="0"/>
              </a:spcAft>
              <a:buClr>
                <a:srgbClr val="6D9EEB"/>
              </a:buClr>
              <a:buSzPts val="1400"/>
              <a:buChar char="○"/>
            </a:pPr>
            <a:r>
              <a:rPr lang="en-GB" sz="1500">
                <a:solidFill>
                  <a:srgbClr val="6D9EEB"/>
                </a:solidFill>
              </a:rPr>
              <a:t>`observations` - Number of observations made for that species at that park</a:t>
            </a:r>
            <a:endParaRPr sz="1500">
              <a:solidFill>
                <a:srgbClr val="6D9EE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Data</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sz="1500">
                <a:solidFill>
                  <a:srgbClr val="6D9EEB"/>
                </a:solidFill>
              </a:rPr>
              <a:t>Observations.csv</a:t>
            </a:r>
            <a:endParaRPr sz="1500">
              <a:solidFill>
                <a:srgbClr val="6D9EEB"/>
              </a:solidFill>
            </a:endParaRPr>
          </a:p>
          <a:p>
            <a:pPr indent="0" lvl="0" marL="0" marR="0" rtl="0" algn="l">
              <a:lnSpc>
                <a:spcPct val="115000"/>
              </a:lnSpc>
              <a:spcBef>
                <a:spcPts val="1200"/>
              </a:spcBef>
              <a:spcAft>
                <a:spcPts val="0"/>
              </a:spcAft>
              <a:buNone/>
            </a:pPr>
            <a:r>
              <a:t/>
            </a:r>
            <a:endParaRPr sz="1500">
              <a:solidFill>
                <a:srgbClr val="6D9EEB"/>
              </a:solidFill>
            </a:endParaRPr>
          </a:p>
          <a:p>
            <a:pPr indent="-323850" lvl="0" marL="457200" marR="0" rtl="0" algn="l">
              <a:lnSpc>
                <a:spcPct val="150000"/>
              </a:lnSpc>
              <a:spcBef>
                <a:spcPts val="1200"/>
              </a:spcBef>
              <a:spcAft>
                <a:spcPts val="0"/>
              </a:spcAft>
              <a:buClr>
                <a:srgbClr val="6D9EEB"/>
              </a:buClr>
              <a:buSzPts val="1500"/>
              <a:buChar char="●"/>
            </a:pPr>
            <a:r>
              <a:rPr lang="en-GB" sz="1500">
                <a:solidFill>
                  <a:srgbClr val="6D9EEB"/>
                </a:solidFill>
              </a:rPr>
              <a:t>Some parks had multiple lines for the same scientific name, but it might be because they were recorded at different times, maybe different months or years, so I left them</a:t>
            </a:r>
            <a:endParaRPr sz="1500">
              <a:solidFill>
                <a:srgbClr val="6D9EEB"/>
              </a:solidFill>
            </a:endParaRPr>
          </a:p>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`scientific_name` and `park_name` consist of nominal categorical data while `observations` is made up of discrete numerical data</a:t>
            </a:r>
            <a:endParaRPr sz="1500">
              <a:solidFill>
                <a:srgbClr val="6D9EE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4697313" y="1152475"/>
            <a:ext cx="3999900" cy="3416400"/>
          </a:xfrm>
          <a:prstGeom prst="rect">
            <a:avLst/>
          </a:prstGeom>
        </p:spPr>
        <p:txBody>
          <a:bodyPr anchorCtr="0" anchor="ctr" bIns="91425" lIns="91425" spcFirstLastPara="1" rIns="91425" wrap="square" tIns="91425">
            <a:normAutofit/>
          </a:bodyPr>
          <a:lstStyle/>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a:t>
            </a:r>
            <a:r>
              <a:rPr lang="en-GB" sz="1500">
                <a:solidFill>
                  <a:srgbClr val="6D9EEB"/>
                </a:solidFill>
              </a:rPr>
              <a:t>Vascular Plant` makes up the majority of the observations</a:t>
            </a:r>
            <a:endParaRPr sz="1500">
              <a:solidFill>
                <a:srgbClr val="6D9EEB"/>
              </a:solidFill>
            </a:endParaRPr>
          </a:p>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`Bird` is the second biggest group</a:t>
            </a:r>
            <a:endParaRPr sz="1500">
              <a:solidFill>
                <a:srgbClr val="6D9EEB"/>
              </a:solidFill>
            </a:endParaRPr>
          </a:p>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`Mammal`, `Fish`, `Amphibian` and `Reptile` all together account for 8.3% of the data recorded</a:t>
            </a:r>
            <a:endParaRPr sz="1500">
              <a:solidFill>
                <a:srgbClr val="6D9EEB"/>
              </a:solidFill>
            </a:endParaRPr>
          </a:p>
        </p:txBody>
      </p:sp>
      <p:pic>
        <p:nvPicPr>
          <p:cNvPr id="91" name="Google Shape;91;p19" title="Animal_counts_by_class.png"/>
          <p:cNvPicPr preferRelativeResize="0"/>
          <p:nvPr/>
        </p:nvPicPr>
        <p:blipFill rotWithShape="1">
          <a:blip r:embed="rId4">
            <a:alphaModFix/>
          </a:blip>
          <a:srcRect b="8796" l="32269" r="6263" t="4193"/>
          <a:stretch/>
        </p:blipFill>
        <p:spPr>
          <a:xfrm>
            <a:off x="534942" y="1152475"/>
            <a:ext cx="3929076" cy="3089925"/>
          </a:xfrm>
          <a:prstGeom prst="rect">
            <a:avLst/>
          </a:prstGeom>
          <a:noFill/>
          <a:ln>
            <a:noFill/>
          </a:ln>
        </p:spPr>
      </p:pic>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solidFill>
                  <a:srgbClr val="3C78D8"/>
                </a:solidFill>
              </a:rPr>
              <a:t>Analysis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solidFill>
                  <a:srgbClr val="3C78D8"/>
                </a:solidFill>
              </a:rPr>
              <a:t>Analysis</a:t>
            </a:r>
            <a:endParaRPr/>
          </a:p>
        </p:txBody>
      </p:sp>
      <p:sp>
        <p:nvSpPr>
          <p:cNvPr id="98" name="Google Shape;98;p20"/>
          <p:cNvSpPr txBox="1"/>
          <p:nvPr>
            <p:ph idx="1" type="body"/>
          </p:nvPr>
        </p:nvSpPr>
        <p:spPr>
          <a:xfrm>
            <a:off x="386975" y="2887264"/>
            <a:ext cx="8372100" cy="1518000"/>
          </a:xfrm>
          <a:prstGeom prst="rect">
            <a:avLst/>
          </a:prstGeom>
        </p:spPr>
        <p:txBody>
          <a:bodyPr anchorCtr="0" anchor="ctr" bIns="91425" lIns="91425" spcFirstLastPara="1" rIns="91425" wrap="square" tIns="91425">
            <a:normAutofit/>
          </a:bodyPr>
          <a:lstStyle/>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Categories of least concern are `Vascular Plant`, `Nonvascular Plant`, `Reptile` and `Fish`</a:t>
            </a:r>
            <a:endParaRPr sz="1500">
              <a:solidFill>
                <a:srgbClr val="6D9EEB"/>
              </a:solidFill>
            </a:endParaRPr>
          </a:p>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`Fish` also has a great number of `Endangered` and `Threatened` species</a:t>
            </a:r>
            <a:endParaRPr sz="1500">
              <a:solidFill>
                <a:srgbClr val="6D9EEB"/>
              </a:solidFill>
            </a:endParaRPr>
          </a:p>
        </p:txBody>
      </p:sp>
      <p:pic>
        <p:nvPicPr>
          <p:cNvPr id="99" name="Google Shape;99;p20" title="Full_Conservation_st_by_category.png"/>
          <p:cNvPicPr preferRelativeResize="0"/>
          <p:nvPr/>
        </p:nvPicPr>
        <p:blipFill>
          <a:blip r:embed="rId4">
            <a:alphaModFix/>
          </a:blip>
          <a:stretch>
            <a:fillRect/>
          </a:stretch>
        </p:blipFill>
        <p:spPr>
          <a:xfrm>
            <a:off x="1332544" y="1070095"/>
            <a:ext cx="3828119" cy="2126725"/>
          </a:xfrm>
          <a:prstGeom prst="rect">
            <a:avLst/>
          </a:prstGeom>
          <a:noFill/>
          <a:ln>
            <a:noFill/>
          </a:ln>
        </p:spPr>
      </p:pic>
      <p:pic>
        <p:nvPicPr>
          <p:cNvPr id="100" name="Google Shape;100;p20" title="Conservation_st_by_category.png"/>
          <p:cNvPicPr preferRelativeResize="0"/>
          <p:nvPr/>
        </p:nvPicPr>
        <p:blipFill>
          <a:blip r:embed="rId5">
            <a:alphaModFix/>
          </a:blip>
          <a:stretch>
            <a:fillRect/>
          </a:stretch>
        </p:blipFill>
        <p:spPr>
          <a:xfrm>
            <a:off x="4234867" y="1070095"/>
            <a:ext cx="3828125" cy="2126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Analysis</a:t>
            </a:r>
            <a:endParaRPr/>
          </a:p>
        </p:txBody>
      </p:sp>
      <p:pic>
        <p:nvPicPr>
          <p:cNvPr id="106" name="Google Shape;106;p21" title="Conservation_st_by_park.png"/>
          <p:cNvPicPr preferRelativeResize="0"/>
          <p:nvPr/>
        </p:nvPicPr>
        <p:blipFill>
          <a:blip r:embed="rId4">
            <a:alphaModFix/>
          </a:blip>
          <a:stretch>
            <a:fillRect/>
          </a:stretch>
        </p:blipFill>
        <p:spPr>
          <a:xfrm>
            <a:off x="456952" y="1578763"/>
            <a:ext cx="4546649" cy="2525916"/>
          </a:xfrm>
          <a:prstGeom prst="rect">
            <a:avLst/>
          </a:prstGeom>
          <a:noFill/>
          <a:ln>
            <a:noFill/>
          </a:ln>
        </p:spPr>
      </p:pic>
      <p:sp>
        <p:nvSpPr>
          <p:cNvPr id="107" name="Google Shape;107;p21"/>
          <p:cNvSpPr txBox="1"/>
          <p:nvPr>
            <p:ph idx="1" type="body"/>
          </p:nvPr>
        </p:nvSpPr>
        <p:spPr>
          <a:xfrm>
            <a:off x="5194100" y="997150"/>
            <a:ext cx="3638100" cy="28128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sz="1500">
                <a:solidFill>
                  <a:srgbClr val="6D9EEB"/>
                </a:solidFill>
              </a:rPr>
              <a:t>All the species were seen at all parks, so no park has a higher number of endangered species than the others</a:t>
            </a:r>
            <a:endParaRPr sz="1500">
              <a:solidFill>
                <a:srgbClr val="6D9EE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2" title="Endangered_species.png"/>
          <p:cNvPicPr preferRelativeResize="0"/>
          <p:nvPr/>
        </p:nvPicPr>
        <p:blipFill rotWithShape="1">
          <a:blip r:embed="rId4">
            <a:alphaModFix/>
          </a:blip>
          <a:srcRect b="0" l="7932" r="9183" t="0"/>
          <a:stretch/>
        </p:blipFill>
        <p:spPr>
          <a:xfrm>
            <a:off x="1369225" y="825075"/>
            <a:ext cx="6310301" cy="3552875"/>
          </a:xfrm>
          <a:prstGeom prst="rect">
            <a:avLst/>
          </a:prstGeom>
          <a:noFill/>
          <a:ln>
            <a:noFill/>
          </a:ln>
        </p:spPr>
      </p:pic>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GB">
                <a:solidFill>
                  <a:srgbClr val="3C78D8"/>
                </a:solidFill>
              </a:rPr>
              <a:t>Analysis</a:t>
            </a:r>
            <a:endParaRPr/>
          </a:p>
        </p:txBody>
      </p:sp>
      <p:sp>
        <p:nvSpPr>
          <p:cNvPr id="119" name="Google Shape;119;p23"/>
          <p:cNvSpPr txBox="1"/>
          <p:nvPr>
            <p:ph idx="1" type="body"/>
          </p:nvPr>
        </p:nvSpPr>
        <p:spPr>
          <a:xfrm>
            <a:off x="311700" y="1017725"/>
            <a:ext cx="3999900" cy="3416400"/>
          </a:xfrm>
          <a:prstGeom prst="rect">
            <a:avLst/>
          </a:prstGeom>
        </p:spPr>
        <p:txBody>
          <a:bodyPr anchorCtr="0" anchor="ctr" bIns="91425" lIns="91425" spcFirstLastPara="1" rIns="91425" wrap="square" tIns="91425">
            <a:normAutofit/>
          </a:bodyPr>
          <a:lstStyle/>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All the categories less seen species had similar numbers of observations</a:t>
            </a:r>
            <a:endParaRPr sz="1500">
              <a:solidFill>
                <a:srgbClr val="6D9EEB"/>
              </a:solidFill>
            </a:endParaRPr>
          </a:p>
          <a:p>
            <a:pPr indent="0" lvl="0" marL="457200" marR="0" rtl="0" algn="l">
              <a:lnSpc>
                <a:spcPct val="115000"/>
              </a:lnSpc>
              <a:spcBef>
                <a:spcPts val="1200"/>
              </a:spcBef>
              <a:spcAft>
                <a:spcPts val="0"/>
              </a:spcAft>
              <a:buNone/>
            </a:pPr>
            <a:r>
              <a:t/>
            </a:r>
            <a:endParaRPr sz="1500">
              <a:solidFill>
                <a:srgbClr val="6D9EEB"/>
              </a:solidFill>
            </a:endParaRPr>
          </a:p>
          <a:p>
            <a:pPr indent="-323850" lvl="0" marL="457200" marR="0" rtl="0" algn="l">
              <a:lnSpc>
                <a:spcPct val="115000"/>
              </a:lnSpc>
              <a:spcBef>
                <a:spcPts val="1200"/>
              </a:spcBef>
              <a:spcAft>
                <a:spcPts val="0"/>
              </a:spcAft>
              <a:buClr>
                <a:srgbClr val="6D9EEB"/>
              </a:buClr>
              <a:buSzPts val="1500"/>
              <a:buChar char="●"/>
            </a:pPr>
            <a:r>
              <a:rPr lang="en-GB" sz="1500">
                <a:solidFill>
                  <a:srgbClr val="6D9EEB"/>
                </a:solidFill>
              </a:rPr>
              <a:t>All these species were seen in all parks</a:t>
            </a:r>
            <a:endParaRPr sz="1500">
              <a:solidFill>
                <a:srgbClr val="6D9EEB"/>
              </a:solidFill>
            </a:endParaRPr>
          </a:p>
        </p:txBody>
      </p:sp>
      <p:graphicFrame>
        <p:nvGraphicFramePr>
          <p:cNvPr id="120" name="Google Shape;120;p23"/>
          <p:cNvGraphicFramePr/>
          <p:nvPr/>
        </p:nvGraphicFramePr>
        <p:xfrm>
          <a:off x="4769592" y="1390253"/>
          <a:ext cx="3000000" cy="3000000"/>
        </p:xfrm>
        <a:graphic>
          <a:graphicData uri="http://schemas.openxmlformats.org/drawingml/2006/table">
            <a:tbl>
              <a:tblPr>
                <a:noFill/>
                <a:tableStyleId>{690F203B-9386-4476-B197-A8B0B76AEE03}</a:tableStyleId>
              </a:tblPr>
              <a:tblGrid>
                <a:gridCol w="1206500"/>
                <a:gridCol w="1206500"/>
                <a:gridCol w="1206500"/>
              </a:tblGrid>
              <a:tr h="381000">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S</a:t>
                      </a:r>
                      <a:r>
                        <a:rPr b="1" lang="en-GB" sz="1000">
                          <a:solidFill>
                            <a:srgbClr val="6D9EEB"/>
                          </a:solidFill>
                          <a:highlight>
                            <a:srgbClr val="FFFFFF"/>
                          </a:highlight>
                        </a:rPr>
                        <a:t>cientific Name</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O</a:t>
                      </a:r>
                      <a:r>
                        <a:rPr b="1" lang="en-GB" sz="1000">
                          <a:solidFill>
                            <a:srgbClr val="6D9EEB"/>
                          </a:solidFill>
                          <a:highlight>
                            <a:srgbClr val="FFFFFF"/>
                          </a:highlight>
                        </a:rPr>
                        <a:t>bservations</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C</a:t>
                      </a:r>
                      <a:r>
                        <a:rPr b="1" lang="en-GB" sz="1000">
                          <a:solidFill>
                            <a:srgbClr val="6D9EEB"/>
                          </a:solidFill>
                          <a:highlight>
                            <a:srgbClr val="FFFFFF"/>
                          </a:highlight>
                        </a:rPr>
                        <a:t>ategory</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81000">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Rana sierrae</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144</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Amphibian</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81000">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Grus americana</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131</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Bird</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81000">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Noturus baileyi</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143</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Fish</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81000">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Canis rufus</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137</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Mammal</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81000">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Geum radiatum</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162</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Vascular Plant</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Analysis</a:t>
            </a:r>
            <a:endParaRPr>
              <a:solidFill>
                <a:srgbClr val="3C78D8"/>
              </a:solidFill>
            </a:endParaRPr>
          </a:p>
        </p:txBody>
      </p:sp>
      <p:grpSp>
        <p:nvGrpSpPr>
          <p:cNvPr id="126" name="Google Shape;126;p24"/>
          <p:cNvGrpSpPr/>
          <p:nvPr/>
        </p:nvGrpSpPr>
        <p:grpSpPr>
          <a:xfrm>
            <a:off x="1660803" y="1927522"/>
            <a:ext cx="1942800" cy="1346560"/>
            <a:chOff x="1660800" y="1171213"/>
            <a:chExt cx="1942800" cy="1569600"/>
          </a:xfrm>
        </p:grpSpPr>
        <p:sp>
          <p:nvSpPr>
            <p:cNvPr id="127" name="Google Shape;127;p24"/>
            <p:cNvSpPr/>
            <p:nvPr/>
          </p:nvSpPr>
          <p:spPr>
            <a:xfrm>
              <a:off x="1660800" y="1171213"/>
              <a:ext cx="1942800" cy="1569600"/>
            </a:xfrm>
            <a:prstGeom prst="round1Rect">
              <a:avLst>
                <a:gd fmla="val 17446"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4"/>
            <p:cNvSpPr txBox="1"/>
            <p:nvPr/>
          </p:nvSpPr>
          <p:spPr>
            <a:xfrm>
              <a:off x="1879875" y="1413580"/>
              <a:ext cx="1451700" cy="13272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Roboto"/>
                  <a:ea typeface="Roboto"/>
                  <a:cs typeface="Roboto"/>
                  <a:sym typeface="Roboto"/>
                </a:rPr>
                <a:t>2 Categorical variables</a:t>
              </a:r>
              <a:endParaRPr b="1" sz="1100">
                <a:solidFill>
                  <a:srgbClr val="FFFFFF"/>
                </a:solidFill>
                <a:latin typeface="Roboto"/>
                <a:ea typeface="Roboto"/>
                <a:cs typeface="Roboto"/>
                <a:sym typeface="Roboto"/>
              </a:endParaRPr>
            </a:p>
            <a:p>
              <a:pPr indent="0" lvl="0" marL="0" rtl="0" algn="ctr">
                <a:spcBef>
                  <a:spcPts val="0"/>
                </a:spcBef>
                <a:spcAft>
                  <a:spcPts val="0"/>
                </a:spcAft>
                <a:buNone/>
              </a:pPr>
              <a:r>
                <a:t/>
              </a:r>
              <a:endParaRPr b="1" sz="1100">
                <a:solidFill>
                  <a:srgbClr val="FFFFFF"/>
                </a:solidFill>
                <a:latin typeface="Roboto"/>
                <a:ea typeface="Roboto"/>
                <a:cs typeface="Roboto"/>
                <a:sym typeface="Roboto"/>
              </a:endParaRPr>
            </a:p>
          </p:txBody>
        </p:sp>
      </p:grpSp>
      <p:grpSp>
        <p:nvGrpSpPr>
          <p:cNvPr id="129" name="Google Shape;129;p24"/>
          <p:cNvGrpSpPr/>
          <p:nvPr/>
        </p:nvGrpSpPr>
        <p:grpSpPr>
          <a:xfrm>
            <a:off x="3600603" y="1927522"/>
            <a:ext cx="1942800" cy="1346560"/>
            <a:chOff x="3600600" y="1170963"/>
            <a:chExt cx="1942800" cy="1569600"/>
          </a:xfrm>
        </p:grpSpPr>
        <p:sp>
          <p:nvSpPr>
            <p:cNvPr id="130" name="Google Shape;130;p24"/>
            <p:cNvSpPr/>
            <p:nvPr/>
          </p:nvSpPr>
          <p:spPr>
            <a:xfrm>
              <a:off x="3600600" y="1170963"/>
              <a:ext cx="1942800" cy="1569600"/>
            </a:xfrm>
            <a:prstGeom prst="round2SameRect">
              <a:avLst>
                <a:gd fmla="val 18098" name="adj1"/>
                <a:gd fmla="val 0" name="adj2"/>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4"/>
            <p:cNvSpPr txBox="1"/>
            <p:nvPr/>
          </p:nvSpPr>
          <p:spPr>
            <a:xfrm>
              <a:off x="3819000" y="1413580"/>
              <a:ext cx="1451700" cy="1326900"/>
            </a:xfrm>
            <a:prstGeom prst="rect">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Roboto"/>
                  <a:ea typeface="Roboto"/>
                  <a:cs typeface="Roboto"/>
                  <a:sym typeface="Roboto"/>
                </a:rPr>
                <a:t>Variables seemingly independent</a:t>
              </a:r>
              <a:endParaRPr b="1" sz="1100">
                <a:solidFill>
                  <a:srgbClr val="FFFFFF"/>
                </a:solidFill>
                <a:latin typeface="Roboto"/>
                <a:ea typeface="Roboto"/>
                <a:cs typeface="Roboto"/>
                <a:sym typeface="Roboto"/>
              </a:endParaRPr>
            </a:p>
          </p:txBody>
        </p:sp>
      </p:grpSp>
      <p:grpSp>
        <p:nvGrpSpPr>
          <p:cNvPr id="132" name="Google Shape;132;p24"/>
          <p:cNvGrpSpPr/>
          <p:nvPr/>
        </p:nvGrpSpPr>
        <p:grpSpPr>
          <a:xfrm>
            <a:off x="5539837" y="1942144"/>
            <a:ext cx="1942800" cy="1332120"/>
            <a:chOff x="5539816" y="1171213"/>
            <a:chExt cx="1942800" cy="1569600"/>
          </a:xfrm>
        </p:grpSpPr>
        <p:sp>
          <p:nvSpPr>
            <p:cNvPr id="133" name="Google Shape;133;p24"/>
            <p:cNvSpPr/>
            <p:nvPr/>
          </p:nvSpPr>
          <p:spPr>
            <a:xfrm flipH="1">
              <a:off x="5539816" y="1171213"/>
              <a:ext cx="1942800" cy="1569600"/>
            </a:xfrm>
            <a:prstGeom prst="round1Rect">
              <a:avLst>
                <a:gd fmla="val 17446"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4"/>
            <p:cNvSpPr txBox="1"/>
            <p:nvPr/>
          </p:nvSpPr>
          <p:spPr>
            <a:xfrm>
              <a:off x="5762407" y="1413553"/>
              <a:ext cx="1451700" cy="13272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Roboto"/>
                  <a:ea typeface="Roboto"/>
                  <a:cs typeface="Roboto"/>
                  <a:sym typeface="Roboto"/>
                </a:rPr>
                <a:t>Statistical Null hypothesis: There is no relationship between the two variables</a:t>
              </a:r>
              <a:endParaRPr b="1" sz="1100">
                <a:solidFill>
                  <a:srgbClr val="FFFFFF"/>
                </a:solidFill>
                <a:latin typeface="Roboto"/>
                <a:ea typeface="Roboto"/>
                <a:cs typeface="Roboto"/>
                <a:sym typeface="Roboto"/>
              </a:endParaRPr>
            </a:p>
            <a:p>
              <a:pPr indent="0" lvl="0" marL="0" rtl="0" algn="ctr">
                <a:spcBef>
                  <a:spcPts val="0"/>
                </a:spcBef>
                <a:spcAft>
                  <a:spcPts val="0"/>
                </a:spcAft>
                <a:buNone/>
              </a:pPr>
              <a:r>
                <a:t/>
              </a:r>
              <a:endParaRPr b="1" sz="1100">
                <a:solidFill>
                  <a:srgbClr val="FFFFFF"/>
                </a:solidFill>
                <a:latin typeface="Roboto"/>
                <a:ea typeface="Roboto"/>
                <a:cs typeface="Roboto"/>
                <a:sym typeface="Roboto"/>
              </a:endParaRPr>
            </a:p>
          </p:txBody>
        </p:sp>
      </p:grpSp>
      <p:grpSp>
        <p:nvGrpSpPr>
          <p:cNvPr id="135" name="Google Shape;135;p24"/>
          <p:cNvGrpSpPr/>
          <p:nvPr/>
        </p:nvGrpSpPr>
        <p:grpSpPr>
          <a:xfrm>
            <a:off x="3473893" y="1927571"/>
            <a:ext cx="260366" cy="260366"/>
            <a:chOff x="3157188" y="909150"/>
            <a:chExt cx="470400" cy="470400"/>
          </a:xfrm>
        </p:grpSpPr>
        <p:sp>
          <p:nvSpPr>
            <p:cNvPr id="136" name="Google Shape;136;p24"/>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4"/>
            <p:cNvSpPr/>
            <p:nvPr/>
          </p:nvSpPr>
          <p:spPr>
            <a:xfrm>
              <a:off x="3243138" y="995100"/>
              <a:ext cx="298500" cy="298500"/>
            </a:xfrm>
            <a:prstGeom prst="mathPlus">
              <a:avLst>
                <a:gd fmla="val 9900" name="adj1"/>
              </a:avLst>
            </a:prstGeom>
            <a:solidFill>
              <a:srgbClr val="307A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24"/>
          <p:cNvGrpSpPr/>
          <p:nvPr/>
        </p:nvGrpSpPr>
        <p:grpSpPr>
          <a:xfrm>
            <a:off x="5413052" y="1927571"/>
            <a:ext cx="260366" cy="260366"/>
            <a:chOff x="3157188" y="909150"/>
            <a:chExt cx="470400" cy="470400"/>
          </a:xfrm>
        </p:grpSpPr>
        <p:sp>
          <p:nvSpPr>
            <p:cNvPr id="139" name="Google Shape;139;p24"/>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4"/>
            <p:cNvSpPr/>
            <p:nvPr/>
          </p:nvSpPr>
          <p:spPr>
            <a:xfrm>
              <a:off x="3243138" y="995100"/>
              <a:ext cx="298500" cy="298500"/>
            </a:xfrm>
            <a:prstGeom prst="mathPlus">
              <a:avLst>
                <a:gd fmla="val 9900" name="adj1"/>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24"/>
          <p:cNvGrpSpPr/>
          <p:nvPr/>
        </p:nvGrpSpPr>
        <p:grpSpPr>
          <a:xfrm>
            <a:off x="1660225" y="3274257"/>
            <a:ext cx="5822400" cy="715189"/>
            <a:chOff x="1660800" y="2723938"/>
            <a:chExt cx="5822400" cy="1278722"/>
          </a:xfrm>
        </p:grpSpPr>
        <p:sp>
          <p:nvSpPr>
            <p:cNvPr id="142" name="Google Shape;142;p24"/>
            <p:cNvSpPr/>
            <p:nvPr/>
          </p:nvSpPr>
          <p:spPr>
            <a:xfrm rot="10800000">
              <a:off x="1660800" y="2723938"/>
              <a:ext cx="5822400" cy="1248600"/>
            </a:xfrm>
            <a:prstGeom prst="round2SameRect">
              <a:avLst>
                <a:gd fmla="val 18098" name="adj1"/>
                <a:gd fmla="val 0" name="adj2"/>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3" name="Google Shape;143;p24"/>
            <p:cNvSpPr txBox="1"/>
            <p:nvPr/>
          </p:nvSpPr>
          <p:spPr>
            <a:xfrm>
              <a:off x="2583300" y="2978759"/>
              <a:ext cx="3977400" cy="102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Roboto"/>
                  <a:ea typeface="Roboto"/>
                  <a:cs typeface="Roboto"/>
                  <a:sym typeface="Roboto"/>
                </a:rPr>
                <a:t>Chi-square test</a:t>
              </a:r>
              <a:endParaRPr sz="1300">
                <a:solidFill>
                  <a:srgbClr val="FFFFFF"/>
                </a:solidFill>
                <a:latin typeface="Roboto"/>
                <a:ea typeface="Roboto"/>
                <a:cs typeface="Roboto"/>
                <a:sym typeface="Roboto"/>
              </a:endParaRPr>
            </a:p>
          </p:txBody>
        </p:sp>
      </p:grpSp>
      <p:sp>
        <p:nvSpPr>
          <p:cNvPr id="144" name="Google Shape;144;p24"/>
          <p:cNvSpPr txBox="1"/>
          <p:nvPr/>
        </p:nvSpPr>
        <p:spPr>
          <a:xfrm>
            <a:off x="311700" y="1086434"/>
            <a:ext cx="8520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6D9EEB"/>
                </a:solidFill>
              </a:rPr>
              <a:t>Is the difference between a species category and their conservation status significant?</a:t>
            </a:r>
            <a:endParaRPr sz="1800">
              <a:solidFill>
                <a:srgbClr val="6D9EE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GB">
                <a:solidFill>
                  <a:srgbClr val="3C78D8"/>
                </a:solidFill>
              </a:rPr>
              <a:t>Analysis</a:t>
            </a:r>
            <a:endParaRPr/>
          </a:p>
        </p:txBody>
      </p:sp>
      <p:graphicFrame>
        <p:nvGraphicFramePr>
          <p:cNvPr id="150" name="Google Shape;150;p25"/>
          <p:cNvGraphicFramePr/>
          <p:nvPr/>
        </p:nvGraphicFramePr>
        <p:xfrm>
          <a:off x="2686239" y="557213"/>
          <a:ext cx="3000000" cy="3000000"/>
        </p:xfrm>
        <a:graphic>
          <a:graphicData uri="http://schemas.openxmlformats.org/drawingml/2006/table">
            <a:tbl>
              <a:tblPr>
                <a:solidFill>
                  <a:srgbClr val="FFFFFF"/>
                </a:solidFill>
                <a:tableStyleId>{E5016C6B-9779-4FDF-AC33-023439309C1C}</a:tableStyleId>
              </a:tblPr>
              <a:tblGrid>
                <a:gridCol w="1357575"/>
                <a:gridCol w="871250"/>
                <a:gridCol w="861150"/>
                <a:gridCol w="992850"/>
                <a:gridCol w="1296775"/>
                <a:gridCol w="840875"/>
              </a:tblGrid>
              <a:tr h="601450">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C</a:t>
                      </a:r>
                      <a:r>
                        <a:rPr b="1" lang="en-GB" sz="1000">
                          <a:solidFill>
                            <a:srgbClr val="6D9EEB"/>
                          </a:solidFill>
                          <a:highlight>
                            <a:srgbClr val="FFFFFF"/>
                          </a:highlight>
                        </a:rPr>
                        <a:t>onservation Status</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Endangered</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In Recovery</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Least Concern</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Species of Concern</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Threatened</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Mammal</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3.41</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82.95</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12.50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1.14</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Fish</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2.40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91.20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3.20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3.20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Amphibian</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1.27</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91.14</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5.06</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2.53</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Bird</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0.82</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0.61</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84.63</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13.93</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Vascular Plant</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0.02</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98.92</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1.01</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0.05</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468350">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Nonvascular Plant</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98.50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1.50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r h="335225">
                <a:tc>
                  <a:txBody>
                    <a:bodyPr/>
                    <a:lstStyle/>
                    <a:p>
                      <a:pPr indent="0" lvl="0" marL="0" rtl="0" algn="r">
                        <a:lnSpc>
                          <a:spcPct val="115000"/>
                        </a:lnSpc>
                        <a:spcBef>
                          <a:spcPts val="0"/>
                        </a:spcBef>
                        <a:spcAft>
                          <a:spcPts val="1000"/>
                        </a:spcAft>
                        <a:buNone/>
                      </a:pPr>
                      <a:r>
                        <a:rPr b="1" lang="en-GB" sz="1000">
                          <a:solidFill>
                            <a:srgbClr val="6D9EEB"/>
                          </a:solidFill>
                          <a:highlight>
                            <a:srgbClr val="FFFFFF"/>
                          </a:highlight>
                        </a:rPr>
                        <a:t>Reptile</a:t>
                      </a:r>
                      <a:endParaRPr b="1"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93.59</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6.41</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GB" sz="1000">
                          <a:solidFill>
                            <a:srgbClr val="6D9EEB"/>
                          </a:solidFill>
                          <a:highlight>
                            <a:srgbClr val="FFFFFF"/>
                          </a:highlight>
                        </a:rPr>
                        <a:t>0.00</a:t>
                      </a:r>
                      <a:endParaRPr sz="1000">
                        <a:solidFill>
                          <a:srgbClr val="6D9EEB"/>
                        </a:solidFill>
                        <a:highlight>
                          <a:srgbClr val="FFFFFF"/>
                        </a:highlight>
                      </a:endParaRPr>
                    </a:p>
                  </a:txBody>
                  <a:tcPr marT="63500" marB="63500" marR="63500" marL="63500" anchor="ctr">
                    <a:lnL cap="flat" cmpd="sng" w="9525">
                      <a:solidFill>
                        <a:srgbClr val="3D85C6"/>
                      </a:solidFill>
                      <a:prstDash val="solid"/>
                      <a:round/>
                      <a:headEnd len="sm" w="sm" type="none"/>
                      <a:tailEnd len="sm" w="sm" type="none"/>
                    </a:lnL>
                    <a:lnR cap="flat" cmpd="sng" w="9525">
                      <a:solidFill>
                        <a:srgbClr val="3D85C6"/>
                      </a:solidFill>
                      <a:prstDash val="solid"/>
                      <a:round/>
                      <a:headEnd len="sm" w="sm" type="none"/>
                      <a:tailEnd len="sm" w="sm" type="none"/>
                    </a:lnR>
                    <a:lnT cap="flat" cmpd="sng" w="9525">
                      <a:solidFill>
                        <a:srgbClr val="3D85C6"/>
                      </a:solidFill>
                      <a:prstDash val="solid"/>
                      <a:round/>
                      <a:headEnd len="sm" w="sm" type="none"/>
                      <a:tailEnd len="sm" w="sm" type="none"/>
                    </a:lnT>
                    <a:lnB cap="flat" cmpd="sng" w="9525">
                      <a:solidFill>
                        <a:srgbClr val="3D85C6"/>
                      </a:solidFill>
                      <a:prstDash val="solid"/>
                      <a:round/>
                      <a:headEnd len="sm" w="sm" type="none"/>
                      <a:tailEnd len="sm" w="sm" type="none"/>
                    </a:lnB>
                  </a:tcPr>
                </a:tc>
              </a:tr>
            </a:tbl>
          </a:graphicData>
        </a:graphic>
      </p:graphicFrame>
      <p:sp>
        <p:nvSpPr>
          <p:cNvPr id="151" name="Google Shape;151;p25"/>
          <p:cNvSpPr txBox="1"/>
          <p:nvPr>
            <p:ph idx="1" type="body"/>
          </p:nvPr>
        </p:nvSpPr>
        <p:spPr>
          <a:xfrm>
            <a:off x="0" y="680225"/>
            <a:ext cx="2739300" cy="3416400"/>
          </a:xfrm>
          <a:prstGeom prst="rect">
            <a:avLst/>
          </a:prstGeom>
        </p:spPr>
        <p:txBody>
          <a:bodyPr anchorCtr="0" anchor="ctr" bIns="91425" lIns="91425" spcFirstLastPara="1" rIns="91425" wrap="square" tIns="91425">
            <a:normAutofit/>
          </a:bodyPr>
          <a:lstStyle/>
          <a:p>
            <a:pPr indent="-323850" lvl="0" marL="457200" marR="0" rtl="0" algn="l">
              <a:lnSpc>
                <a:spcPct val="115000"/>
              </a:lnSpc>
              <a:spcBef>
                <a:spcPts val="0"/>
              </a:spcBef>
              <a:spcAft>
                <a:spcPts val="0"/>
              </a:spcAft>
              <a:buClr>
                <a:srgbClr val="6D9EEB"/>
              </a:buClr>
              <a:buSzPts val="1500"/>
              <a:buChar char="●"/>
            </a:pPr>
            <a:r>
              <a:rPr lang="en-GB" sz="1500">
                <a:solidFill>
                  <a:srgbClr val="6D9EEB"/>
                </a:solidFill>
              </a:rPr>
              <a:t>P-value: 0.00002 &lt;0.01</a:t>
            </a:r>
            <a:endParaRPr sz="1500">
              <a:solidFill>
                <a:srgbClr val="6D9EEB"/>
              </a:solidFill>
            </a:endParaRPr>
          </a:p>
          <a:p>
            <a:pPr indent="0" lvl="0" marL="457200" marR="0" rtl="0" algn="l">
              <a:lnSpc>
                <a:spcPct val="115000"/>
              </a:lnSpc>
              <a:spcBef>
                <a:spcPts val="1200"/>
              </a:spcBef>
              <a:spcAft>
                <a:spcPts val="0"/>
              </a:spcAft>
              <a:buNone/>
            </a:pPr>
            <a:r>
              <a:t/>
            </a:r>
            <a:endParaRPr sz="1500">
              <a:solidFill>
                <a:srgbClr val="6D9EEB"/>
              </a:solidFill>
            </a:endParaRPr>
          </a:p>
          <a:p>
            <a:pPr indent="-323850" lvl="0" marL="457200" marR="0" rtl="0" algn="l">
              <a:lnSpc>
                <a:spcPct val="115000"/>
              </a:lnSpc>
              <a:spcBef>
                <a:spcPts val="1200"/>
              </a:spcBef>
              <a:spcAft>
                <a:spcPts val="0"/>
              </a:spcAft>
              <a:buClr>
                <a:srgbClr val="6D9EEB"/>
              </a:buClr>
              <a:buSzPts val="1500"/>
              <a:buChar char="●"/>
            </a:pPr>
            <a:r>
              <a:rPr lang="en-GB" sz="1500">
                <a:solidFill>
                  <a:srgbClr val="6D9EEB"/>
                </a:solidFill>
              </a:rPr>
              <a:t>Highly significant</a:t>
            </a:r>
            <a:endParaRPr sz="1500">
              <a:solidFill>
                <a:srgbClr val="6D9EEB"/>
              </a:solidFill>
            </a:endParaRPr>
          </a:p>
        </p:txBody>
      </p:sp>
      <p:sp>
        <p:nvSpPr>
          <p:cNvPr id="152" name="Google Shape;152;p25"/>
          <p:cNvSpPr txBox="1"/>
          <p:nvPr>
            <p:ph idx="1" type="body"/>
          </p:nvPr>
        </p:nvSpPr>
        <p:spPr>
          <a:xfrm>
            <a:off x="2678845" y="178941"/>
            <a:ext cx="62205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lang="en-GB" sz="1500">
                <a:solidFill>
                  <a:srgbClr val="6D9EEB"/>
                </a:solidFill>
              </a:rPr>
              <a:t>Spread of conservation status across categories (in %)</a:t>
            </a:r>
            <a:endParaRPr sz="1500">
              <a:solidFill>
                <a:srgbClr val="6D9EEB"/>
              </a:solidFill>
            </a:endParaRPr>
          </a:p>
          <a:p>
            <a:pPr indent="0" lvl="0" marL="0" rtl="0" algn="ctr">
              <a:spcBef>
                <a:spcPts val="1200"/>
              </a:spcBef>
              <a:spcAft>
                <a:spcPts val="0"/>
              </a:spcAft>
              <a:buNone/>
            </a:pPr>
            <a:r>
              <a:t/>
            </a:r>
            <a:endParaRPr/>
          </a:p>
          <a:p>
            <a:pPr indent="0" lvl="0" marL="0" rtl="0" algn="ctr">
              <a:spcBef>
                <a:spcPts val="1200"/>
              </a:spcBef>
              <a:spcAft>
                <a:spcPts val="1200"/>
              </a:spcAft>
              <a:buNone/>
            </a:pPr>
            <a:r>
              <a:t/>
            </a:r>
            <a:endParaRPr/>
          </a:p>
        </p:txBody>
      </p:sp>
      <p:sp>
        <p:nvSpPr>
          <p:cNvPr id="153" name="Google Shape;153;p25"/>
          <p:cNvSpPr/>
          <p:nvPr/>
        </p:nvSpPr>
        <p:spPr>
          <a:xfrm>
            <a:off x="1145975" y="2128250"/>
            <a:ext cx="267900" cy="535800"/>
          </a:xfrm>
          <a:prstGeom prst="downArrow">
            <a:avLst>
              <a:gd fmla="val 50000" name="adj1"/>
              <a:gd fmla="val 50000" name="adj2"/>
            </a:avLst>
          </a:prstGeom>
          <a:solidFill>
            <a:schemeClr val="lt2"/>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3C78D8"/>
                </a:solidFill>
              </a:rPr>
              <a:t>Conclusion</a:t>
            </a:r>
            <a:endParaRPr/>
          </a:p>
        </p:txBody>
      </p:sp>
      <p:sp>
        <p:nvSpPr>
          <p:cNvPr id="159" name="Google Shape;15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All endangered species were seen in all parks, meaning there is a change for </a:t>
            </a:r>
            <a:r>
              <a:rPr lang="en-GB" sz="1500">
                <a:solidFill>
                  <a:srgbClr val="6D9EEB"/>
                </a:solidFill>
              </a:rPr>
              <a:t>rehabilitation</a:t>
            </a:r>
            <a:r>
              <a:rPr lang="en-GB" sz="1500">
                <a:solidFill>
                  <a:srgbClr val="6D9EEB"/>
                </a:solidFill>
              </a:rPr>
              <a:t>, but </a:t>
            </a:r>
            <a:r>
              <a:rPr lang="en-GB" sz="1500">
                <a:solidFill>
                  <a:srgbClr val="6D9EEB"/>
                </a:solidFill>
              </a:rPr>
              <a:t>conservationist</a:t>
            </a:r>
            <a:r>
              <a:rPr lang="en-GB" sz="1500">
                <a:solidFill>
                  <a:srgbClr val="6D9EEB"/>
                </a:solidFill>
              </a:rPr>
              <a:t> need to keep an eye out and active efforts must be built upon to achieve this</a:t>
            </a:r>
            <a:endParaRPr sz="1500">
              <a:solidFill>
                <a:srgbClr val="6D9EEB"/>
              </a:solidFill>
            </a:endParaRPr>
          </a:p>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`Fish` is the category with most potential to get more endangered species, so rules and care should be put in place to try and reduce the decline of `Fish` population</a:t>
            </a:r>
            <a:endParaRPr sz="1500">
              <a:solidFill>
                <a:srgbClr val="6D9EEB"/>
              </a:solidFill>
            </a:endParaRPr>
          </a:p>
          <a:p>
            <a:pPr indent="-323850" lvl="0" marL="457200" marR="0" rtl="0" algn="l">
              <a:lnSpc>
                <a:spcPct val="150000"/>
              </a:lnSpc>
              <a:spcBef>
                <a:spcPts val="0"/>
              </a:spcBef>
              <a:spcAft>
                <a:spcPts val="0"/>
              </a:spcAft>
              <a:buClr>
                <a:srgbClr val="6D9EEB"/>
              </a:buClr>
              <a:buSzPts val="1500"/>
              <a:buChar char="●"/>
            </a:pPr>
            <a:r>
              <a:rPr lang="en-GB" sz="1500">
                <a:solidFill>
                  <a:srgbClr val="6D9EEB"/>
                </a:solidFill>
              </a:rPr>
              <a:t>A timestamp should be introduced to the data to further categorize and analyse it, making it possible to see how the individual species and even the categories are evolving within the parks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